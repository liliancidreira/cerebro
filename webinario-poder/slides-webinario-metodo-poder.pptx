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468880"/>
            <a:ext cx="137160" cy="1828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1" i="0">
                <a:solidFill>
                  <a:srgbClr val="B8860B"/>
                </a:solidFill>
                <a:latin typeface="Calibri"/>
              </a:rPr>
              <a:t>WEBINÁRIO  ·  EXCLUSIVO PARA ALUNAS MPP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12801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Como se posicionar para conquistar a promoção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1">
                <a:solidFill>
                  <a:srgbClr val="CFC29C"/>
                </a:solidFill>
                <a:latin typeface="Calibri"/>
              </a:rPr>
              <a:t>sem precisar trocar de empresa, sem depender da política interna,
sem ver gente menos competente ser escolhida na sua frente.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com Lilian Cidreira, MSc.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BLOCO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Antes de a gente começar...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600" b="1" i="0">
                <a:solidFill>
                  <a:srgbClr val="1F3A5F"/>
                </a:solidFill>
                <a:latin typeface="Calibri"/>
              </a:rPr>
              <a:t>Eu preciso te dizer cinco coisas.</a:t>
            </a:r>
          </a:p>
        </p:txBody>
      </p:sp>
      <p:sp>
        <p:nvSpPr>
          <p:cNvPr id="7" name="Oval 6"/>
          <p:cNvSpPr/>
          <p:nvPr/>
        </p:nvSpPr>
        <p:spPr>
          <a:xfrm>
            <a:off x="1508760" y="3017520"/>
            <a:ext cx="594360" cy="59436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3063240"/>
            <a:ext cx="594360" cy="5029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2139696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400" b="1" i="0">
                <a:solidFill>
                  <a:srgbClr val="1F3A5F"/>
                </a:solidFill>
                <a:latin typeface="Calibri"/>
              </a:rPr>
              <a:t>Justifique seus fracassos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2139696" cy="11887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Não é culpa sua.</a:t>
            </a:r>
          </a:p>
        </p:txBody>
      </p:sp>
      <p:sp>
        <p:nvSpPr>
          <p:cNvPr id="11" name="Oval 10"/>
          <p:cNvSpPr/>
          <p:nvPr/>
        </p:nvSpPr>
        <p:spPr>
          <a:xfrm>
            <a:off x="3831336" y="3017520"/>
            <a:ext cx="594360" cy="59436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31336" y="3063240"/>
            <a:ext cx="594360" cy="5029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3840480"/>
            <a:ext cx="2139696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400" b="1" i="0">
                <a:solidFill>
                  <a:srgbClr val="1F3A5F"/>
                </a:solidFill>
                <a:latin typeface="Calibri"/>
              </a:rPr>
              <a:t>Acalme seus medos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4572000"/>
            <a:ext cx="2139696" cy="11887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Você consegue sair desse lugar.</a:t>
            </a:r>
          </a:p>
        </p:txBody>
      </p:sp>
      <p:sp>
        <p:nvSpPr>
          <p:cNvPr id="15" name="Oval 14"/>
          <p:cNvSpPr/>
          <p:nvPr/>
        </p:nvSpPr>
        <p:spPr>
          <a:xfrm>
            <a:off x="6153912" y="3017520"/>
            <a:ext cx="594360" cy="59436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3063240"/>
            <a:ext cx="594360" cy="5029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3840480"/>
            <a:ext cx="2139696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400" b="1" i="0">
                <a:solidFill>
                  <a:srgbClr val="1F3A5F"/>
                </a:solidFill>
                <a:latin typeface="Calibri"/>
              </a:rPr>
              <a:t>Malhe seus inimigos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4572000"/>
            <a:ext cx="2139696" cy="11887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Trabalho não é a punição de ser adulto.</a:t>
            </a:r>
          </a:p>
        </p:txBody>
      </p:sp>
      <p:sp>
        <p:nvSpPr>
          <p:cNvPr id="19" name="Oval 18"/>
          <p:cNvSpPr/>
          <p:nvPr/>
        </p:nvSpPr>
        <p:spPr>
          <a:xfrm>
            <a:off x="8476488" y="3017520"/>
            <a:ext cx="594360" cy="59436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3063240"/>
            <a:ext cx="594360" cy="5029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3840480"/>
            <a:ext cx="2139696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400" b="1" i="0">
                <a:solidFill>
                  <a:srgbClr val="1F3A5F"/>
                </a:solidFill>
                <a:latin typeface="Calibri"/>
              </a:rPr>
              <a:t>Confirme suas suspeitas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4572000"/>
            <a:ext cx="2139696" cy="11887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Sua intuição está certa.</a:t>
            </a:r>
          </a:p>
        </p:txBody>
      </p:sp>
      <p:sp>
        <p:nvSpPr>
          <p:cNvPr id="23" name="Oval 22"/>
          <p:cNvSpPr/>
          <p:nvPr/>
        </p:nvSpPr>
        <p:spPr>
          <a:xfrm>
            <a:off x="10799064" y="3017520"/>
            <a:ext cx="594360" cy="59436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99064" y="3063240"/>
            <a:ext cx="594360" cy="5029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21824" y="3840480"/>
            <a:ext cx="2139696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400" b="1" i="0">
                <a:solidFill>
                  <a:srgbClr val="1F3A5F"/>
                </a:solidFill>
                <a:latin typeface="Calibri"/>
              </a:rPr>
              <a:t>Encoraje seus sonhos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21824" y="4572000"/>
            <a:ext cx="2139696" cy="11887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Sua próxima promoção é possível.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BLOCO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Calibri"/>
              </a:rPr>
              <a:t>Pra quem é este webinário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Calibri"/>
              </a:rPr>
              <a:t>Profissionais que querem ser reconhecidas pela competência que têm — e alcançar o próximo nível de carreira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3246120"/>
            <a:ext cx="164592" cy="164592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Analista sênior tentando virar coordenadora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3749040"/>
            <a:ext cx="164592" cy="164592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61188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Coordenadora tentando virar gerente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4251960"/>
            <a:ext cx="164592" cy="164592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11480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Gerente tentando virar diretora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754880"/>
            <a:ext cx="164592" cy="164592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61772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Profissional 45+ que sente que o mercado não vê mais sua experiência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5257800"/>
            <a:ext cx="164592" cy="164592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12064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Profissional pensando em transição de carreira (incluindo empreender)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B8860B"/>
                </a:solidFill>
                <a:latin typeface="Calibri"/>
              </a:rPr>
              <a:t>A ideia central deste webinário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Promoção não é conquistada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por competência ou esforço.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54864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É conquistada por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4400" b="1" i="0">
                <a:solidFill>
                  <a:srgbClr val="B8860B"/>
                </a:solidFill>
                <a:latin typeface="Calibri"/>
              </a:rPr>
              <a:t>POSICIONAMENTO ESTRATÉGICO.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BLOCO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600" b="1" i="0">
                <a:solidFill>
                  <a:srgbClr val="1F3A5F"/>
                </a:solidFill>
                <a:latin typeface="Calibri"/>
              </a:rPr>
              <a:t>Lilian Cidreira, MSc.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Calibri"/>
              </a:rPr>
              <a:t>Fundadora e CEO da Future Minds Consultoria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2860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R$ 3,5 milhões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560320"/>
            <a:ext cx="86868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em aumentos salariais comprovados em alunas — desde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40+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200400"/>
            <a:ext cx="86868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grandes empresas atendidas (Coca-Cola, Itaú, Petrobras, Natura, Globo, Deloitte, Nestlé, Vale, Santander e outras)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22860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840480"/>
            <a:ext cx="86868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instituições de ensino — professora de MBA na ESPM, mestre pela FGV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22860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9+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480560"/>
            <a:ext cx="86868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países com alunas (Brasil, EUA, Espanha, Irlanda, Noruega, Holanda, Peru, Argentina, África)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22860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Mídia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120640"/>
            <a:ext cx="86868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Folha de S.Paulo · Jornal Nacional · UOL · Época Negócios · TV Cultura · Pequenas Empresas Grandes Negócios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BLOCO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A história que ninguém te conta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Calibri"/>
              </a:rPr>
              <a:t>Como eu cheguei aqui</a:t>
            </a:r>
          </a:p>
        </p:txBody>
      </p:sp>
      <p:sp>
        <p:nvSpPr>
          <p:cNvPr id="7" name="Oval 6"/>
          <p:cNvSpPr/>
          <p:nvPr/>
        </p:nvSpPr>
        <p:spPr>
          <a:xfrm>
            <a:off x="1306068" y="3200400"/>
            <a:ext cx="329184" cy="329184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35252" y="3337560"/>
            <a:ext cx="1514856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84404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25 anos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184404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Coordenadora
aos 25</a:t>
            </a:r>
          </a:p>
        </p:txBody>
      </p:sp>
      <p:sp>
        <p:nvSpPr>
          <p:cNvPr id="11" name="Oval 10"/>
          <p:cNvSpPr/>
          <p:nvPr/>
        </p:nvSpPr>
        <p:spPr>
          <a:xfrm>
            <a:off x="3150108" y="3200400"/>
            <a:ext cx="329184" cy="329184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9292" y="3337560"/>
            <a:ext cx="1514856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2680" y="3657600"/>
            <a:ext cx="184404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2011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2680" y="4069080"/>
            <a:ext cx="184404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Canadá
35 dias
chorando</a:t>
            </a:r>
          </a:p>
        </p:txBody>
      </p:sp>
      <p:sp>
        <p:nvSpPr>
          <p:cNvPr id="15" name="Oval 14"/>
          <p:cNvSpPr/>
          <p:nvPr/>
        </p:nvSpPr>
        <p:spPr>
          <a:xfrm>
            <a:off x="4994148" y="3200400"/>
            <a:ext cx="329184" cy="329184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3332" y="3337560"/>
            <a:ext cx="1514856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6720" y="3657600"/>
            <a:ext cx="184404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2007 / 4 empresas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6720" y="4069080"/>
            <a:ext cx="184404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Mapeando
o padrão</a:t>
            </a:r>
          </a:p>
        </p:txBody>
      </p:sp>
      <p:sp>
        <p:nvSpPr>
          <p:cNvPr id="19" name="Oval 18"/>
          <p:cNvSpPr/>
          <p:nvPr/>
        </p:nvSpPr>
        <p:spPr>
          <a:xfrm>
            <a:off x="6838188" y="3200400"/>
            <a:ext cx="329184" cy="329184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67372" y="3337560"/>
            <a:ext cx="1514856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657600"/>
            <a:ext cx="184404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2015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069080"/>
            <a:ext cx="184404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Demissão
= libertação</a:t>
            </a:r>
          </a:p>
        </p:txBody>
      </p:sp>
      <p:sp>
        <p:nvSpPr>
          <p:cNvPr id="23" name="Oval 22"/>
          <p:cNvSpPr/>
          <p:nvPr/>
        </p:nvSpPr>
        <p:spPr>
          <a:xfrm>
            <a:off x="8682228" y="3200400"/>
            <a:ext cx="329184" cy="329184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11412" y="3337560"/>
            <a:ext cx="1514856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4800" y="3657600"/>
            <a:ext cx="184404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2016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4800" y="4069080"/>
            <a:ext cx="184404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Future
Minds</a:t>
            </a:r>
          </a:p>
        </p:txBody>
      </p:sp>
      <p:sp>
        <p:nvSpPr>
          <p:cNvPr id="27" name="Oval 26"/>
          <p:cNvSpPr/>
          <p:nvPr/>
        </p:nvSpPr>
        <p:spPr>
          <a:xfrm>
            <a:off x="10526268" y="3200400"/>
            <a:ext cx="329184" cy="329184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8840" y="3657600"/>
            <a:ext cx="184404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8840" y="4069080"/>
            <a:ext cx="184404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P.O.D.E.R.
nasce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400" b="0" i="1">
                <a:solidFill>
                  <a:srgbClr val="B8860B"/>
                </a:solidFill>
                <a:latin typeface="Calibri"/>
              </a:rPr>
              <a:t>"A gente não recebe uma educação pra ser promovida. A gente recebe uma educação pra obedecer."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SEGREDO Nº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Plano Reverso de Carreira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91440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15544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1">
                <a:solidFill>
                  <a:srgbClr val="CFC29C"/>
                </a:solidFill>
                <a:latin typeface="Calibri"/>
              </a:rPr>
              <a:t>Como traçar em 90 dias o caminho exato
da sua próxima promoção, mesmo sem nenhum apoio externo,
em qualquer empresa ou setor.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B8860B"/>
                </a:solidFill>
                <a:latin typeface="Calibri"/>
              </a:rPr>
              <a:t>Quebra a falsa crença: "isso não funciona na minha realidade"   ·   Pilar P do P.O.D.E.R.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Calibri"/>
              </a:rPr>
              <a:t>O Plano Reverso de Carreira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600" b="0" i="1">
                <a:solidFill>
                  <a:srgbClr val="B8860B"/>
                </a:solidFill>
                <a:latin typeface="Calibri"/>
              </a:rPr>
              <a:t>Pega caneta e papel. Você vai querer anotar este.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48640" cy="5029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3291840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548640" cy="5029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3886200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548640" cy="5029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4480560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548640" cy="5029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5074920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548640" cy="5029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5669280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Como eu descobri o Plano Reverso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Calibri"/>
              </a:rPr>
              <a:t>Foi no Canadá, em 2011.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9966960" cy="1371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0" i="1">
                <a:solidFill>
                  <a:srgbClr val="B8860B"/>
                </a:solidFill>
                <a:latin typeface="Calibri"/>
              </a:rPr>
              <a:t>"Profissional bem-sucedida não planeja a partir de onde está.
Profissional bem-sucedida planeja a partir de onde quer chegar."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Quatro anos atendendo profissionais reais cristalizaram esse pilar nos cinco passos do framework.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Os 5 passos do Plano Reverso de Carreira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03120"/>
            <a:ext cx="41148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Defina o destino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39696"/>
            <a:ext cx="5943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Você não começa pelo que faz amanhã. Começa pelo cargo que quer ocupar.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926080"/>
            <a:ext cx="41148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Mapeie o estado-alvo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962656"/>
            <a:ext cx="5943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É uma identidade profissional, não só um cargo.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749040"/>
            <a:ext cx="41148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Diagnostique o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785616"/>
            <a:ext cx="5943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Compare, com honestidade, onde está versus onde quer estar.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572000"/>
            <a:ext cx="41148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Construa o caminho reverso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608576"/>
            <a:ext cx="5943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Do destino até hoje — não de hoje até o destino.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394960"/>
            <a:ext cx="41148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Valide com referência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431536"/>
            <a:ext cx="5943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Converse com quem já está onde você quer chegar.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1" i="1">
                <a:solidFill>
                  <a:srgbClr val="B8860B"/>
                </a:solidFill>
                <a:latin typeface="Calibri"/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4800" b="1" i="0">
                <a:solidFill>
                  <a:srgbClr val="1F3A5F"/>
                </a:solidFill>
                <a:latin typeface="Calibri"/>
              </a:rPr>
              <a:t>Fernanda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Calibri"/>
              </a:rPr>
              <a:t>5 anos parada na TIM como Analista Pleno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5303520" cy="2560320"/>
          </a:xfrm>
          <a:prstGeom prst="rect">
            <a:avLst/>
          </a:prstGeom>
          <a:solidFill>
            <a:srgbClr val="F0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50292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1" i="0">
                <a:solidFill>
                  <a:srgbClr val="B8860B"/>
                </a:solidFill>
                <a:latin typeface="Calibri"/>
              </a:rPr>
              <a:t>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502920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5 anos sem promoção
Analista Pleno
Sem perspectiva
Sem plano próprio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474720"/>
            <a:ext cx="5303520" cy="2560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50292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1" i="0">
                <a:solidFill>
                  <a:srgbClr val="B8860B"/>
                </a:solidFill>
                <a:latin typeface="Calibri"/>
              </a:rPr>
              <a:t>DEPOIS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502920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Mudou de empresa com plano próprio
Quebrou regra interna (aumento aos 9m)
Promovida em 12 meses
Promovida todos os anos desde então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Outras histórias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Bárbara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94560"/>
            <a:ext cx="3657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"Não quero mudar de empresa"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2,5 anos como Analista Sênior → Coordenadora em 2-3 meses → Gerente em 1 ano. Dentro da mesma empresa.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Anna 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474720"/>
            <a:ext cx="3657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"Tarde demais pra mim (45+)"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4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50 anos, demitida depois de 11 anos. A FIAP a procurou pelo LinkedIn. Promovida a Coordenadora em 6 meses.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Jéssica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754880"/>
            <a:ext cx="3657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"Não sei nem por onde começar"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Mesma estagnação inicial. Aplicou o plano, mudou de empresa, é promovida todos os anos desde então.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SEGREDO Nº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Destaque Silencioso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91440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15544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1">
                <a:solidFill>
                  <a:srgbClr val="CFC29C"/>
                </a:solidFill>
                <a:latin typeface="Calibri"/>
              </a:rPr>
              <a:t>Como ser percebida pela Alta Gestão
como a profissional óbvia pra próxima vaga,
mesmo sendo a pessoa mais reservada do seu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B8860B"/>
                </a:solidFill>
                <a:latin typeface="Calibri"/>
              </a:rPr>
              <a:t>Quebra a falsa crença: "eu não tenho o perfil"   ·   Pilares E + D do P.O.D.E.R.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600" b="1" i="0">
                <a:solidFill>
                  <a:srgbClr val="1F3A5F"/>
                </a:solidFill>
                <a:latin typeface="Calibri"/>
              </a:rPr>
              <a:t>O Sistema de Destaque Silencioso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600" b="0" i="1">
                <a:solidFill>
                  <a:srgbClr val="B8860B"/>
                </a:solidFill>
                <a:latin typeface="Calibri"/>
              </a:rPr>
              <a:t>Você não vai virar outra pessoa. Você vai aprender a destacar quem você JÁ 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4864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3474720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4864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4023360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54864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4572000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79"/>
            <a:ext cx="54864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5120639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54864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5669280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Como eu descobri o Destaque Silencioso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600" b="1" i="0">
                <a:solidFill>
                  <a:srgbClr val="1F3A5F"/>
                </a:solidFill>
                <a:latin typeface="Calibri"/>
              </a:rPr>
              <a:t>Foi na Underwriter, com uma área "ruim".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9966960" cy="1371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0" i="1">
                <a:solidFill>
                  <a:srgbClr val="B8860B"/>
                </a:solidFill>
                <a:latin typeface="Calibri"/>
              </a:rPr>
              <a:t>"Eu virei referência interna sem ter mudado a minha essência um centímetro."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Área mal vista virou área PREMIADA. Projeto que evitou multa de R$1,5M.
E eu continuei sendo a Lilian reservada que tinha saído do Canadá poucos anos antes.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Os 5 passos do Destaque Silencioso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03120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Mapeie os decisores certos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39696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3 a 5 pessoas — não todo mundo.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926080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Defina sua marca de entrega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962656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Sua Impressão Digital Corporativa.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749040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Crie pontos de contato estratégicos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785616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Estar nos momentos certos, não em todos.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572000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Comunique entregas com linguagem de impacto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608576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Traduza entrega em valor percebido.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394960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Construa um padrão silencioso de visibilidade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431536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Sutil, consistente, contínuo.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1" i="1">
                <a:solidFill>
                  <a:srgbClr val="B8860B"/>
                </a:solidFill>
                <a:latin typeface="Calibri"/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4800" b="1" i="0">
                <a:solidFill>
                  <a:srgbClr val="1F3A5F"/>
                </a:solidFill>
                <a:latin typeface="Calibri"/>
              </a:rPr>
              <a:t>Silvia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Calibri"/>
              </a:rPr>
              <a:t>10 anos como Especialista de P&amp;D — sempre elogiada, nunca promovida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5303520" cy="2560320"/>
          </a:xfrm>
          <a:prstGeom prst="rect">
            <a:avLst/>
          </a:prstGeom>
          <a:solidFill>
            <a:srgbClr val="F0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50292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1" i="0">
                <a:solidFill>
                  <a:srgbClr val="B8860B"/>
                </a:solidFill>
                <a:latin typeface="Calibri"/>
              </a:rPr>
              <a:t>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502920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10 anos como Especialista
Muitos elogios, zero promoção
Reservada e técnica
Sentia não ser "vista"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474720"/>
            <a:ext cx="5303520" cy="2560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50292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1" i="0">
                <a:solidFill>
                  <a:srgbClr val="B8860B"/>
                </a:solidFill>
                <a:latin typeface="Calibri"/>
              </a:rPr>
              <a:t>DEPOIS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502920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Promovida a Gerente Técnica
+ BÔNUS EXTRA da empresa
(reconhecimento ao posicionamento)
Continua sendo a mesma pessoa reservada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Outras histórias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Bárbara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94560"/>
            <a:ext cx="384048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"Não tenho tempo de empresa"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Tão reservada que tinha vergonha de falar nas sessões. Analista Sênior 2,5 anos → Coordenadora em 2-3 meses → Gerente em 1 ano.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Sobre o chefe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474720"/>
            <a:ext cx="384048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"E se meu chefe não me vê?"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4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O passo 1 mapeia decisores — não necessariamente seu chefe imediato. Visibilidade pra cima do chefe é técnica do método.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Sobre virar puxa-saco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754880"/>
            <a:ext cx="384048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"Vão me achar puxa-saco"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Destaque silencioso é o OPOSTO de puxa-saco. Puxa-saco faz barulho sem entrega. Aqui é entrega real comunicada com elegância.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SEGREDO Nº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Promoção sem Vaga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91440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15544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1">
                <a:solidFill>
                  <a:srgbClr val="CFC29C"/>
                </a:solidFill>
                <a:latin typeface="Calibri"/>
              </a:rPr>
              <a:t>Como construir, em até 6 meses,
o cenário onde a sua promoção vira inevitável —
mesmo se hoje a estrutura da sua empresa pareça travada.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B8860B"/>
                </a:solidFill>
                <a:latin typeface="Calibri"/>
              </a:rPr>
              <a:t>Quebra a falsa crença: "minha empresa não tem como promover"   ·   Pilares O + R do P.O.D.E.R.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600" b="1" i="0">
                <a:solidFill>
                  <a:srgbClr val="1F3A5F"/>
                </a:solidFill>
                <a:latin typeface="Calibri"/>
              </a:rPr>
              <a:t>O Sistema da Promoção sem Vaga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0" i="1">
                <a:solidFill>
                  <a:srgbClr val="B8860B"/>
                </a:solidFill>
                <a:latin typeface="Calibri"/>
              </a:rPr>
              <a:t>Dois caminhos: convencer a empresa atual a abrir espaço · ou fazer o mercado externo te procurar.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4864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3474720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4864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4023360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54864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4572000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79"/>
            <a:ext cx="54864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5120639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54864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1" i="0">
                <a:solidFill>
                  <a:srgbClr val="B8860B"/>
                </a:solidFill>
                <a:latin typeface="Calibri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5669280"/>
            <a:ext cx="96012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Como eu descobri a Promoção sem Vaga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Em nenhuma das 4 empresas eu ocupei uma vaga existente.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9966960" cy="1371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0" i="1">
                <a:solidFill>
                  <a:srgbClr val="B8860B"/>
                </a:solidFill>
                <a:latin typeface="Calibri"/>
              </a:rPr>
              <a:t>"A maior vaga sem vaga que eu já criei na vida
foi a minha própria — quando fundei a Future Minds."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Profissional que cresce sem depender de vaga aberta não espera ninguém abrir porta. Ela constrói a porta.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Os 5 passos da Promoção sem Vaga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03120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Mapeie os pontos cegos da empresa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39696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Gaps que ninguém está resolvendo.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926080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Identifique sua área de afinidade estratégica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962656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O gap que cruza com sua identidade.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749040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Construa uma proposta de valor inédita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785616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Não pede vaga — traz solução.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572000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Posicione-se internamente E externamente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608576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O pilar R muda o tom de qualquer negociação.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82296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B8860B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394960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Crie o momento da apresentação estratégica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431536"/>
            <a:ext cx="5029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Timing, decisor, formato — tudo é técnica.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1" i="1">
                <a:solidFill>
                  <a:srgbClr val="B8860B"/>
                </a:solidFill>
                <a:latin typeface="Calibri"/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4800" b="1" i="0">
                <a:solidFill>
                  <a:srgbClr val="1F3A5F"/>
                </a:solidFill>
                <a:latin typeface="Calibri"/>
              </a:rPr>
              <a:t>Ariana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Calibri"/>
              </a:rPr>
              <a:t>Especialista financeira em empresa familiar — estrutura travada, zero vaga acima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5303520" cy="2560320"/>
          </a:xfrm>
          <a:prstGeom prst="rect">
            <a:avLst/>
          </a:prstGeom>
          <a:solidFill>
            <a:srgbClr val="F0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50292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1" i="0">
                <a:solidFill>
                  <a:srgbClr val="B8860B"/>
                </a:solidFill>
                <a:latin typeface="Calibri"/>
              </a:rPr>
              <a:t>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502920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Especialista área financeira/contábil
Empresa familiar tradicional
Sem vaga acima
Estrutura travada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474720"/>
            <a:ext cx="5303520" cy="2560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50292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1" i="0">
                <a:solidFill>
                  <a:srgbClr val="B8860B"/>
                </a:solidFill>
                <a:latin typeface="Calibri"/>
              </a:rPr>
              <a:t>DEPOIS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502920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Empresa CRIOU um departamento novo
Promovida a GERENTE desse departamento
Não ocupou vaga — trouxe uma vaga
pra existir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SEGREDO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Outras histórias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56032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Victor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194560"/>
            <a:ext cx="5486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"E se minha empresa REALMENTE não tem como?"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R$10.500 no Brasil como Analista Sênior → R$24.000 remoto pra Europa. Caminho externo via Pilar 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56032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Sobre qualificação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474720"/>
            <a:ext cx="5486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"Não me sinto qualificada pra propor"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4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Os pilares funcionam encadeados — E+D antes torna O muito mais fácil. Dentro do método, eu ensino a ordem.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256032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Sobre rede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754880"/>
            <a:ext cx="5486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"Não tenho LinkedIn / não tenho rede"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Anna Bia construiu isso depois dos 45. Não foi loteria. É método aplicado.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B8860B"/>
                </a:solidFill>
                <a:latin typeface="Calibri"/>
              </a:rPr>
              <a:t>Uma pergunta importante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Você acha que poderia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5400" b="1" i="0">
                <a:solidFill>
                  <a:srgbClr val="B8860B"/>
                </a:solidFill>
                <a:latin typeface="Calibri"/>
              </a:rPr>
              <a:t>ter sucesso?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1">
                <a:solidFill>
                  <a:srgbClr val="CFC29C"/>
                </a:solidFill>
                <a:latin typeface="Calibri"/>
              </a:rPr>
              <a:t>Aplicando os três segredos que acabei de te apresentar.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4400" b="1" i="0">
                <a:solidFill>
                  <a:srgbClr val="1F3A5F"/>
                </a:solidFill>
                <a:latin typeface="Calibri"/>
              </a:rPr>
              <a:t>Deixe-me fazer uma pergunta...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200" b="0" i="1">
                <a:solidFill>
                  <a:srgbClr val="555555"/>
                </a:solidFill>
                <a:latin typeface="Calibri"/>
              </a:rPr>
              <a:t>Tudo bem se eu passar os próximos 10 minutos
te apresentando uma oferta especial?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Calibri"/>
              </a:rPr>
              <a:t>Método P.O.D.E.R.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Calibri"/>
              </a:rPr>
              <a:t>A metodologia completa de posicionamento estratégico para conquistar a promoção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Calibri"/>
              </a:rPr>
              <a:t>Os 5 pilares P.O.D.E.R. destrinchados em módulos práticos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Calibri"/>
              </a:rPr>
              <a:t>Ferramentas aplicáveis em cada aula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1480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Calibri"/>
              </a:rPr>
              <a:t>Área de membros exclusiva — acesso por 1 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0916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Calibri"/>
              </a:rPr>
              <a:t>Comunidade fechada de alunas no WhatsApp — acesso por 1 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30352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Calibri"/>
              </a:rPr>
              <a:t>15 dias de garantia incondicional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54864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Você será capaz de...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512064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Criar plano de carreira próprio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512064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Ser percebida pela Alta Gestão sem mudar quem você 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512064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Construir oportunidades onde a empresa não vê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512064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Receber convites do mercado externo, sem currículo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2040"/>
            <a:ext cx="512064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Conquistar promoção com método, não com sorte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822960"/>
            <a:ext cx="54864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Você poderá se livrar de...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783080"/>
            <a:ext cx="512064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Sensação de estagnação profissional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1460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60320"/>
            <a:ext cx="512064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Síndrome do impostor que faz duvidar do próprio valor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9184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337560"/>
            <a:ext cx="512064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Exaustão de trabalhar mais e ser invisível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6908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114800"/>
            <a:ext cx="512064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Dependência da política interna e de chefes que não veem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4632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892040"/>
            <a:ext cx="512064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 sensação de que "trabalho é punição de ser adulto"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O problema que o Método resolve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0" i="1">
                <a:solidFill>
                  <a:srgbClr val="B8860B"/>
                </a:solidFill>
                <a:latin typeface="Calibri"/>
              </a:rPr>
              <a:t>"Profissional competente, dedicada, técnica, que faz tudo certo
há anos — e mesmo assim está estagnada no mesmo cargo."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600" b="0" i="1">
                <a:solidFill>
                  <a:srgbClr val="555555"/>
                </a:solidFill>
                <a:latin typeface="Calibri"/>
              </a:rPr>
              <a:t>O problema nunca foi a sua competência. O problema é falta de método de posicionamento.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O que custa NÃO ter o método?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05456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Calibri"/>
              </a:rPr>
              <a:t>4 anos de mapeamento (o tempo que eu levei pra cristalizar o método)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36976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Calibri"/>
              </a:rPr>
              <a:t>MBAs e cursos genéricos sem direcionamento prático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968496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Calibri"/>
              </a:rPr>
              <a:t>Salário estagnado enquanto a inflação corrói o poder de compra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  <a:latin typeface="Calibri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700016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Calibri"/>
              </a:rPr>
              <a:t>O peso emocional da síndrome do impostor não tratada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600" b="0" i="1">
                <a:solidFill>
                  <a:srgbClr val="B8860B"/>
                </a:solidFill>
                <a:latin typeface="Calibri"/>
              </a:rPr>
              <a:t>"Eu já paguei essa conta — e tá dentro do método."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Antes de revelar o investimento...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4 objeções que eu quero quebrar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73152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É só mais um curso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88920"/>
            <a:ext cx="100584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Conteúdo é diferente de metodologia. Aqui é sistema testado em campo + comunidade ativa.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73152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Não vou ter tempo de estudar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03320"/>
            <a:ext cx="100584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40 minutos por semana. Menos do que uma noite de Netflix.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3152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0624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Vou conseguir aplicar sozinha?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17720"/>
            <a:ext cx="100584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Não. Comunidade no WhatsApp + Lilian acompanhando padrões.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73152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12064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E se não for pra mim?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532120"/>
            <a:ext cx="100584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15 dias de garantia incondicional. O risco é todo da Lilian.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O que você vai receber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✓  MÉTODO P.O.D.E.R.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200400"/>
            <a:ext cx="10058400" cy="1371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CFC29C"/>
                </a:solidFill>
                <a:latin typeface="Calibri"/>
              </a:rPr>
              <a:t>Metodologia dos 5 pilares · Área de membros · 1 ano de acesso
Comunidade fechada WhatsApp · 15 dias de garantia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8288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Calibri"/>
              </a:rPr>
              <a:t>Valor: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0584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4400" b="1" i="0">
                <a:solidFill>
                  <a:srgbClr val="B8860B"/>
                </a:solidFill>
                <a:latin typeface="Calibri"/>
              </a:rPr>
              <a:t>R$ 1.497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  <a:latin typeface="Calibri"/>
              </a:rPr>
              <a:t>BÔNUS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86868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(somente quem entrar até sexta-feira)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Método Estrategista no LinkedIn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0584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+ Agente de Inteligência Artificial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Calibri"/>
              </a:rPr>
              <a:t>Pra construir a Relevância Externa do Pilar R do P.O.D.E.R.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Quem usou na prática: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  <a:latin typeface="Calibri"/>
              </a:rPr>
              <a:t>Anna Bia (FIAP a procurou pelo LinkedIn) · Victor (saiu do Brasil pra Europa pelo LinkedIn)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0584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1" i="0">
                <a:solidFill>
                  <a:srgbClr val="B8860B"/>
                </a:solidFill>
                <a:latin typeface="Calibri"/>
              </a:rPr>
              <a:t>Valor avulso: R$ 1.997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Valor crescendo...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O que você vai receber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788920"/>
            <a:ext cx="7315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Método P.O.D.E.R. completo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788920"/>
            <a:ext cx="2743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800" b="1" i="0">
                <a:solidFill>
                  <a:srgbClr val="1F3A5F"/>
                </a:solidFill>
                <a:latin typeface="Calibri"/>
              </a:rPr>
              <a:t>R$ 1.497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429000"/>
            <a:ext cx="7315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Bônus 1 — Estrategista LinkedIn +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429000"/>
            <a:ext cx="2743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800" b="1" i="0">
                <a:solidFill>
                  <a:srgbClr val="1F3A5F"/>
                </a:solidFill>
                <a:latin typeface="Calibri"/>
              </a:rPr>
              <a:t>R$ 1.997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69848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73152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0" i="1">
                <a:solidFill>
                  <a:srgbClr val="555555"/>
                </a:solidFill>
                <a:latin typeface="Calibri"/>
              </a:rPr>
              <a:t>Valor total até aqui: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029200"/>
            <a:ext cx="27432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2800" b="1" i="0">
                <a:solidFill>
                  <a:srgbClr val="B8860B"/>
                </a:solidFill>
                <a:latin typeface="Calibri"/>
              </a:rPr>
              <a:t>R$ 3.494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  <a:latin typeface="Calibri"/>
              </a:rPr>
              <a:t>BÔNUS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86868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(somente quem entrar HOJE até 23h59)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1 mês de mentoria ao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0584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dentro do programa Modus Inovandi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15468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2 sessões de mentoria nesse 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5760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Acesso direto à Lilian, conduzindo sua sessão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6052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Plano de ação personalizado pra sua situação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6344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Retorno na sessão seguinte com resultados aplicados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0584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1" i="0">
                <a:solidFill>
                  <a:srgbClr val="B8860B"/>
                </a:solidFill>
                <a:latin typeface="Calibri"/>
              </a:rPr>
              <a:t>Valor: R$ 2.500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(extraído do Modus Inovandi de R$ 15.000 / 6 meses)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que você vai receber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7315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Método P.O.D.E.R.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148840"/>
            <a:ext cx="2743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800" b="1" i="0">
                <a:solidFill>
                  <a:srgbClr val="B8860B"/>
                </a:solidFill>
                <a:latin typeface="Calibri"/>
              </a:rPr>
              <a:t>R$ 1.497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788920"/>
            <a:ext cx="7315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Bônus 1 — Estrategista LinkedIn +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788920"/>
            <a:ext cx="2743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800" b="1" i="0">
                <a:solidFill>
                  <a:srgbClr val="B8860B"/>
                </a:solidFill>
                <a:latin typeface="Calibri"/>
              </a:rPr>
              <a:t>R$ 1.997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429000"/>
            <a:ext cx="7315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Bônus 2 — 1 mês de mentoria ao vivo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429000"/>
            <a:ext cx="2743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800" b="1" i="0">
                <a:solidFill>
                  <a:srgbClr val="B8860B"/>
                </a:solidFill>
                <a:latin typeface="Calibri"/>
              </a:rPr>
              <a:t>R$ 2.500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97680"/>
            <a:ext cx="1069848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73152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VALOR TOTAL: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572000"/>
            <a:ext cx="274320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4000" b="1" i="0">
                <a:solidFill>
                  <a:srgbClr val="B8860B"/>
                </a:solidFill>
                <a:latin typeface="Calibri"/>
              </a:rPr>
              <a:t>R$ 5.994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1">
                <a:solidFill>
                  <a:srgbClr val="CFC29C"/>
                </a:solidFill>
                <a:latin typeface="Calibri"/>
              </a:rPr>
              <a:t>Com 15 dias de garantia incondicional.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As alunas que fizeram esse caminho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1" i="0">
                <a:solidFill>
                  <a:srgbClr val="B8860B"/>
                </a:solidFill>
                <a:latin typeface="Calibri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09728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FERNANDA — 5 anos parada na TIM, hoje promovida todo 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1" i="0">
                <a:solidFill>
                  <a:srgbClr val="B8860B"/>
                </a:solidFill>
                <a:latin typeface="Calibri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109728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BÁRBARA — tão reservada que travava nas sessões, em 1,5 ano subiu 2 cargos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1" i="0">
                <a:solidFill>
                  <a:srgbClr val="B8860B"/>
                </a:solidFill>
                <a:latin typeface="Calibr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109728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SILVIA — 10 anos como Especialista, agora Gerente Técnica + bônus extra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1" i="0">
                <a:solidFill>
                  <a:srgbClr val="B8860B"/>
                </a:solidFill>
                <a:latin typeface="Calibri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109728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ARIANA — empresa familiar criou um departamento pra ela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1" i="0">
                <a:solidFill>
                  <a:srgbClr val="B8860B"/>
                </a:solidFill>
                <a:latin typeface="Calibr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86200"/>
            <a:ext cx="109728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VICTOR — R$10.5k no Brasil → R$24k na Europa remoto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1" i="0">
                <a:solidFill>
                  <a:srgbClr val="B8860B"/>
                </a:solidFill>
                <a:latin typeface="Calibr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43400"/>
            <a:ext cx="109728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ANNA BIA — 50 anos, demitida com 11 anos de casa, hoje Coordenadora na FIAP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3657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1" i="0">
                <a:solidFill>
                  <a:srgbClr val="B8860B"/>
                </a:solidFill>
                <a:latin typeface="Calibri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00600"/>
            <a:ext cx="109728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JÉSSICA — mesma estagnação, hoje é promovida todo 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600" b="1" i="1">
                <a:solidFill>
                  <a:srgbClr val="B8860B"/>
                </a:solidFill>
                <a:latin typeface="Calibri"/>
              </a:rPr>
              <a:t>Mais de R$ 3,5 milhões em aumentos salariais comprovados desde 2022.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Pra quem o Método P.O.D.E.R. funciona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Áreas: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22576"/>
            <a:ext cx="91440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Marketing · RH · Financeiro · Contabilidade · Projetos · Inovação · P&amp;D · Comunicação · Jurídico · outras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Empresas: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191256"/>
            <a:ext cx="91440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Multinacional · Brasileira · Familiar · Americana · Europeia · qualquer porte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Estágios: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059936"/>
            <a:ext cx="91440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Analista Sênior · Coordenação · Gerência · Especialista · Diretoria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92040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  <a:latin typeface="Calibri"/>
              </a:rPr>
              <a:t>Cenário: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928616"/>
            <a:ext cx="91440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Quer crescer no corporativo · quer mudar de empresa · quer transição pra empreender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600" b="1" i="1">
                <a:solidFill>
                  <a:srgbClr val="1F3A5F"/>
                </a:solidFill>
                <a:latin typeface="Calibri"/>
              </a:rPr>
              <a:t>Em todas essas combinações: o método funciona. Tem prova. Não é teoria.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800" b="0" i="1">
                <a:solidFill>
                  <a:srgbClr val="CFC29C"/>
                </a:solidFill>
                <a:latin typeface="Calibri"/>
              </a:rPr>
              <a:t>Valor total empilhado: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4200" b="0" i="0">
                <a:solidFill>
                  <a:srgbClr val="887755"/>
                </a:solidFill>
                <a:latin typeface="Calibri"/>
              </a:rPr>
              <a:t>R$ 5.994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2926080" cy="36576"/>
          </a:xfrm>
          <a:prstGeom prst="rect">
            <a:avLst/>
          </a:prstGeom>
          <a:solidFill>
            <a:srgbClr val="CFC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Investimento HOJE (até 23h59):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05840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"/>
              </a:rPr>
              <a:t>R$ 997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600" b="0" i="1">
                <a:solidFill>
                  <a:srgbClr val="CFC29C"/>
                </a:solidFill>
                <a:latin typeface="Calibri"/>
              </a:rPr>
              <a:t>à vista · ou em 12x de R$ 109,27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OFERTA</a:t>
            </a:r>
          </a:p>
        </p:txBody>
      </p:sp>
      <p:sp>
        <p:nvSpPr>
          <p:cNvPr id="5" name="Oval 4"/>
          <p:cNvSpPr/>
          <p:nvPr/>
        </p:nvSpPr>
        <p:spPr>
          <a:xfrm>
            <a:off x="4297680" y="1280160"/>
            <a:ext cx="3657600" cy="36576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920240"/>
            <a:ext cx="3657600" cy="182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3657600"/>
            <a:ext cx="3657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DIAS DE GARANTIA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4114800"/>
            <a:ext cx="3657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INCONDICIONAL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600" b="1" i="1">
                <a:solidFill>
                  <a:srgbClr val="1F3A5F"/>
                </a:solidFill>
                <a:latin typeface="Calibri"/>
              </a:rPr>
              <a:t>"O risco é todo meu. Eu não estou te pedindo pra confiar — estou te pedindo pra testar."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Se em qualquer momento desses 15 dias você sentir que não é pra você, devolvo seu dinheiro integralmente.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Como entrar agora</a:t>
            </a:r>
          </a:p>
        </p:txBody>
      </p:sp>
      <p:pic>
        <p:nvPicPr>
          <p:cNvPr id="6" name="Picture 5" descr="qrcode-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4114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4114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Aponta a câmera do celular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194560"/>
            <a:ext cx="73152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231136"/>
            <a:ext cx="5943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Aponta o celular pra esse QR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834640"/>
            <a:ext cx="73152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871216"/>
            <a:ext cx="5943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Ou acessa o link aberto na descrição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474720"/>
            <a:ext cx="73152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511296"/>
            <a:ext cx="5943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Preenche seus 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114800"/>
            <a:ext cx="73152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51376"/>
            <a:ext cx="5943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Escolhe forma de pagamento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754880"/>
            <a:ext cx="73152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791456"/>
            <a:ext cx="5943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Acesso liberado imediato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035040"/>
            <a:ext cx="68580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1" i="1">
                <a:solidFill>
                  <a:srgbClr val="1F3A5F"/>
                </a:solidFill>
                <a:latin typeface="Calibri"/>
              </a:rPr>
              <a:t>Investimento: R$ 997  ·  12x R$ 109,27  ·  15 dias de garantia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Q&amp;A</a:t>
            </a:r>
          </a:p>
        </p:txBody>
      </p:sp>
      <p:pic>
        <p:nvPicPr>
          <p:cNvPr id="5" name="Picture 4" descr="qrcode-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743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383280"/>
            <a:ext cx="27432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100" b="1" i="0">
                <a:solidFill>
                  <a:srgbClr val="1F3A5F"/>
                </a:solidFill>
                <a:latin typeface="Calibri"/>
              </a:rPr>
              <a:t>Método P.O.D.E.R. + 2 bônus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27432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R$ 5.994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2743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400" b="1" i="0">
                <a:solidFill>
                  <a:srgbClr val="B8860B"/>
                </a:solidFill>
                <a:latin typeface="Calibri"/>
              </a:rPr>
              <a:t>R$ 997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até HOJE 23h59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27432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15 dias de garantia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548640"/>
            <a:ext cx="36576" cy="54864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640080"/>
            <a:ext cx="77724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Q&amp;A · Sobre o investimento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45920"/>
            <a:ext cx="77724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  <a:latin typeface="Calibri"/>
              </a:rPr>
              <a:t>"Tô apertada financeiramente."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057400"/>
            <a:ext cx="7772400" cy="10058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12x de R$109 = menos que metade de um Netflix + Spotify + ifood semanal. Renda disponível bem aplicada.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017520"/>
            <a:ext cx="77724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  <a:latin typeface="Calibri"/>
              </a:rPr>
              <a:t>"Posso esperar 2-3 meses?"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429000"/>
            <a:ext cx="7772400" cy="10058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Dinheiro volta. Tempo não volta. Esses 2-3 meses sem método são iguais aos 12 anteriores.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389120"/>
            <a:ext cx="77724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  <a:latin typeface="Calibri"/>
              </a:rPr>
              <a:t>"R$ 997 é caro pro que entrega."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800600"/>
            <a:ext cx="7772400" cy="10058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Promoção de coordenadora pra gerente = R$ 2-3 mil a mais por mês. O método se paga em menos de 1 mês.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Q&amp;A</a:t>
            </a:r>
          </a:p>
        </p:txBody>
      </p:sp>
      <p:pic>
        <p:nvPicPr>
          <p:cNvPr id="5" name="Picture 4" descr="qrcode-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743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383280"/>
            <a:ext cx="27432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100" b="1" i="0">
                <a:solidFill>
                  <a:srgbClr val="1F3A5F"/>
                </a:solidFill>
                <a:latin typeface="Calibri"/>
              </a:rPr>
              <a:t>Método P.O.D.E.R. + 2 bônus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27432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R$ 5.994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2743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400" b="1" i="0">
                <a:solidFill>
                  <a:srgbClr val="B8860B"/>
                </a:solidFill>
                <a:latin typeface="Calibri"/>
              </a:rPr>
              <a:t>R$ 997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até HOJE 23h59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27432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15 dias de garantia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548640"/>
            <a:ext cx="36576" cy="54864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640080"/>
            <a:ext cx="77724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Q&amp;A · Sobre a aplicação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45920"/>
            <a:ext cx="7772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  <a:latin typeface="Calibri"/>
              </a:rPr>
              <a:t>"Você é diferente de mim. Tem competências que eu não tenho."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48840"/>
            <a:ext cx="7772400" cy="12801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Eu não sou nada especial. Eu sou a Lilian de 2011 que carregou impostora por uma década. A diferença é método — e você vai ter o método.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474720"/>
            <a:ext cx="7772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  <a:latin typeface="Calibri"/>
              </a:rPr>
              <a:t>"E se eu sair daqui e não fizer nada?"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977640"/>
            <a:ext cx="7772400" cy="12801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Por isso a comunidade do WhatsApp. Não é só conteúdo — é exposição repetida ao sistema completo, com outras alunas ao seu lado.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/>
            <a:r>
              <a:rPr sz="1000" b="1" i="0">
                <a:solidFill>
                  <a:srgbClr val="B8860B"/>
                </a:solidFill>
                <a:latin typeface="Calibri"/>
              </a:rPr>
              <a:t>Q&amp;A</a:t>
            </a:r>
          </a:p>
        </p:txBody>
      </p:sp>
      <p:pic>
        <p:nvPicPr>
          <p:cNvPr id="5" name="Picture 4" descr="qrcode-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743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383280"/>
            <a:ext cx="27432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100" b="1" i="0">
                <a:solidFill>
                  <a:srgbClr val="1F3A5F"/>
                </a:solidFill>
                <a:latin typeface="Calibri"/>
              </a:rPr>
              <a:t>Método P.O.D.E.R. + 2 bônus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274320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R$ 5.994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27432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400" b="1" i="0">
                <a:solidFill>
                  <a:srgbClr val="B8860B"/>
                </a:solidFill>
                <a:latin typeface="Calibri"/>
              </a:rPr>
              <a:t>R$ 997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até HOJE 23h59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27432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15 dias de garantia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548640"/>
            <a:ext cx="36576" cy="54864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640080"/>
            <a:ext cx="77724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Q&amp;A · Sobre a decisão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45920"/>
            <a:ext cx="7772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  <a:latin typeface="Calibri"/>
              </a:rPr>
              <a:t>"Estou em dúvida."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48840"/>
            <a:ext cx="7772400" cy="15544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Duas opções: não fazer nada (0% risco, 0% mudança) ou testar com 15 dias de garantia (0% risco financeiro, 100% chance de mudança).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49040"/>
            <a:ext cx="7772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  <a:latin typeface="Calibri"/>
              </a:rPr>
              <a:t>"Vale a pena? Já gastei tanto com coisa que não deu certo."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251960"/>
            <a:ext cx="7772400" cy="15544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Se você só conquistasse UMA promoção, já valeria. Mas você vai levar metodologia + LinkedIn + IA + comunidade + mentoria ao vivo. A pergunta não é se vale — é quanto custa não ter por mais um ano.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600" b="0" i="1">
                <a:solidFill>
                  <a:srgbClr val="B8860B"/>
                </a:solidFill>
                <a:latin typeface="Calibri"/>
              </a:rPr>
              <a:t>Antes de eu encerrar...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Eu já fui você.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2000" b="0" i="1">
                <a:solidFill>
                  <a:srgbClr val="CFC29C"/>
                </a:solidFill>
                <a:latin typeface="Calibri"/>
              </a:rPr>
              <a:t>E hoje eu posso te dizer:
dá pra sair desse lugar. Não amanhã. Hoje.</a:t>
            </a:r>
          </a:p>
        </p:txBody>
      </p:sp>
      <p:pic>
        <p:nvPicPr>
          <p:cNvPr id="6" name="Picture 5" descr="qrcode-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572000"/>
            <a:ext cx="18288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43600"/>
            <a:ext cx="7315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600" b="1" i="0">
                <a:solidFill>
                  <a:srgbClr val="B8860B"/>
                </a:solidFill>
                <a:latin typeface="Calibri"/>
              </a:rPr>
              <a:t>Aponta a câmera. Começa.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Calibri"/>
              </a:rPr>
              <a:t>Obrigada pelos 90 minutos de hoje.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2000" b="0" i="1">
                <a:solidFill>
                  <a:srgbClr val="B8860B"/>
                </a:solidFill>
                <a:latin typeface="Calibri"/>
              </a:rPr>
              <a:t>A sua próxima promoção começa agora — se você decidir.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600" b="0" i="1">
                <a:solidFill>
                  <a:srgbClr val="555555"/>
                </a:solidFill>
                <a:latin typeface="Calibri"/>
              </a:rPr>
              <a:t>Beijo grande, e até daqui a pouco lá no método.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/>
            <a:r>
              <a:rPr sz="1400" b="1" i="0">
                <a:solidFill>
                  <a:srgbClr val="1F3A5F"/>
                </a:solidFill>
                <a:latin typeface="Calibri"/>
              </a:rPr>
              <a:t>— Lilian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Lilian Cidreira  ·  Future Minds Consultoria  ·  Método P.O.D.E.R.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